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9144000"/>
  <p:notesSz cx="6858000" cy="9144000"/>
  <p:embeddedFontLst>
    <p:embeddedFont>
      <p:font typeface="Average"/>
      <p:regular r:id="rId20"/>
    </p:embeddedFont>
    <p:embeddedFont>
      <p:font typeface="Oswald"/>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is6VmjnWNsW+bGktZIbQ+SFze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verage-regular.fntdata"/><Relationship Id="rId11" Type="http://schemas.openxmlformats.org/officeDocument/2006/relationships/slide" Target="slides/slide6.xml"/><Relationship Id="rId22" Type="http://schemas.openxmlformats.org/officeDocument/2006/relationships/font" Target="fonts/Oswald-bold.fntdata"/><Relationship Id="rId10" Type="http://schemas.openxmlformats.org/officeDocument/2006/relationships/slide" Target="slides/slide5.xml"/><Relationship Id="rId21" Type="http://schemas.openxmlformats.org/officeDocument/2006/relationships/font" Target="fonts/Oswald-regular.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ffc357a2c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ffc357a2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Scrutiny : keep under observation</a:t>
            </a:r>
            <a:endParaRPr/>
          </a:p>
        </p:txBody>
      </p:sp>
      <p:sp>
        <p:nvSpPr>
          <p:cNvPr id="95" name="Google Shape;9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ffbd83117_0_6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ffbd83117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g3dffbd83117_0_601"/>
          <p:cNvGrpSpPr/>
          <p:nvPr/>
        </p:nvGrpSpPr>
        <p:grpSpPr>
          <a:xfrm>
            <a:off x="4350279" y="3807170"/>
            <a:ext cx="443589" cy="140843"/>
            <a:chOff x="4137525" y="2915950"/>
            <a:chExt cx="869100" cy="207000"/>
          </a:xfrm>
        </p:grpSpPr>
        <p:sp>
          <p:nvSpPr>
            <p:cNvPr id="11" name="Google Shape;11;g3dffbd83117_0_601"/>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g3dffbd83117_0_601"/>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g3dffbd83117_0_601"/>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g3dffbd83117_0_601"/>
          <p:cNvSpPr txBox="1"/>
          <p:nvPr>
            <p:ph type="ctrTitle"/>
          </p:nvPr>
        </p:nvSpPr>
        <p:spPr>
          <a:xfrm>
            <a:off x="671258" y="1321067"/>
            <a:ext cx="7801500" cy="23067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g3dffbd83117_0_601"/>
          <p:cNvSpPr txBox="1"/>
          <p:nvPr>
            <p:ph idx="1" type="subTitle"/>
          </p:nvPr>
        </p:nvSpPr>
        <p:spPr>
          <a:xfrm>
            <a:off x="671250" y="4233168"/>
            <a:ext cx="78015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g3dffbd83117_0_601"/>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dffbd83117_0_609"/>
          <p:cNvSpPr txBox="1"/>
          <p:nvPr>
            <p:ph type="title"/>
          </p:nvPr>
        </p:nvSpPr>
        <p:spPr>
          <a:xfrm>
            <a:off x="671250" y="2855000"/>
            <a:ext cx="7852200" cy="11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g3dffbd83117_0_609"/>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dffbd83117_0_612"/>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g3dffbd83117_0_612"/>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g3dffbd83117_0_612"/>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dffbd83117_0_61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g3dffbd83117_0_616"/>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g3dffbd83117_0_616"/>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g3dffbd83117_0_616"/>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dffbd83117_0_621"/>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g3dffbd83117_0_621"/>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dffbd83117_0_624"/>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g3dffbd83117_0_624"/>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g3dffbd83117_0_624"/>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g3dffbd83117_0_628"/>
          <p:cNvSpPr txBox="1"/>
          <p:nvPr>
            <p:ph type="title"/>
          </p:nvPr>
        </p:nvSpPr>
        <p:spPr>
          <a:xfrm>
            <a:off x="490250" y="701800"/>
            <a:ext cx="6227100" cy="5454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g3dffbd83117_0_628"/>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dffbd83117_0_631"/>
          <p:cNvSpPr/>
          <p:nvPr/>
        </p:nvSpPr>
        <p:spPr>
          <a:xfrm>
            <a:off x="4572000" y="0"/>
            <a:ext cx="4572000" cy="685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g3dffbd83117_0_631"/>
          <p:cNvCxnSpPr/>
          <p:nvPr/>
        </p:nvCxnSpPr>
        <p:spPr>
          <a:xfrm>
            <a:off x="5029675" y="59940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g3dffbd83117_0_631"/>
          <p:cNvSpPr txBox="1"/>
          <p:nvPr>
            <p:ph type="title"/>
          </p:nvPr>
        </p:nvSpPr>
        <p:spPr>
          <a:xfrm>
            <a:off x="265500" y="1441867"/>
            <a:ext cx="4045200" cy="228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g3dffbd83117_0_631"/>
          <p:cNvSpPr txBox="1"/>
          <p:nvPr>
            <p:ph idx="1" type="subTitle"/>
          </p:nvPr>
        </p:nvSpPr>
        <p:spPr>
          <a:xfrm>
            <a:off x="265500" y="3793601"/>
            <a:ext cx="4045200" cy="1794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g3dffbd83117_0_631"/>
          <p:cNvSpPr txBox="1"/>
          <p:nvPr>
            <p:ph idx="2" type="body"/>
          </p:nvPr>
        </p:nvSpPr>
        <p:spPr>
          <a:xfrm>
            <a:off x="4939500" y="965600"/>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g3dffbd83117_0_631"/>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g3dffbd83117_0_638"/>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g3dffbd83117_0_638"/>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g3dffbd83117_0_641"/>
          <p:cNvSpPr txBox="1"/>
          <p:nvPr>
            <p:ph hasCustomPrompt="1" type="title"/>
          </p:nvPr>
        </p:nvSpPr>
        <p:spPr>
          <a:xfrm>
            <a:off x="311700" y="1673700"/>
            <a:ext cx="8520600" cy="25209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g3dffbd83117_0_641"/>
          <p:cNvSpPr txBox="1"/>
          <p:nvPr>
            <p:ph idx="1" type="body"/>
          </p:nvPr>
        </p:nvSpPr>
        <p:spPr>
          <a:xfrm>
            <a:off x="311700" y="43045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g3dffbd83117_0_641"/>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g3dffbd83117_0_645"/>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5" name="Shape 55"/>
        <p:cNvGrpSpPr/>
        <p:nvPr/>
      </p:nvGrpSpPr>
      <p:grpSpPr>
        <a:xfrm>
          <a:off x="0" y="0"/>
          <a:ext cx="0" cy="0"/>
          <a:chOff x="0" y="0"/>
          <a:chExt cx="0" cy="0"/>
        </a:xfrm>
      </p:grpSpPr>
      <p:sp>
        <p:nvSpPr>
          <p:cNvPr id="56" name="Google Shape;56;g3dffbd83117_0_6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7" name="Google Shape;57;g3dffbd83117_0_64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8" name="Google Shape;58;g3dffbd83117_0_64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g3dffbd83117_0_64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g3dffbd83117_0_64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g3dffbd83117_0_59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g3dffbd83117_0_597"/>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g3dffbd83117_0_597"/>
          <p:cNvSpPr txBox="1"/>
          <p:nvPr>
            <p:ph idx="12" type="sldNum"/>
          </p:nvPr>
        </p:nvSpPr>
        <p:spPr>
          <a:xfrm>
            <a:off x="8490250" y="6241346"/>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
          <p:cNvSpPr txBox="1"/>
          <p:nvPr>
            <p:ph type="ctrTitle"/>
          </p:nvPr>
        </p:nvSpPr>
        <p:spPr>
          <a:xfrm>
            <a:off x="671250" y="1020272"/>
            <a:ext cx="7801500" cy="15363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sz="4400">
                <a:latin typeface="Calibri"/>
                <a:ea typeface="Calibri"/>
                <a:cs typeface="Calibri"/>
                <a:sym typeface="Calibri"/>
              </a:rPr>
              <a:t>TS504 - TEAM HOUSESTAR</a:t>
            </a:r>
            <a:endParaRPr b="1"/>
          </a:p>
        </p:txBody>
      </p:sp>
      <p:sp>
        <p:nvSpPr>
          <p:cNvPr id="66" name="Google Shape;66;p1"/>
          <p:cNvSpPr txBox="1"/>
          <p:nvPr>
            <p:ph idx="1" type="subTitle"/>
          </p:nvPr>
        </p:nvSpPr>
        <p:spPr>
          <a:xfrm>
            <a:off x="671250" y="4634243"/>
            <a:ext cx="7801500" cy="10569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a:solidFill>
                  <a:srgbClr val="D9D9D9"/>
                </a:solidFill>
              </a:rPr>
              <a:t>Non-Revenue Water Localisation Presentation Deck</a:t>
            </a:r>
            <a:endParaRPr>
              <a:solidFill>
                <a:srgbClr val="D9D9D9"/>
              </a:solidFill>
            </a:endParaRPr>
          </a:p>
        </p:txBody>
      </p:sp>
      <p:sp>
        <p:nvSpPr>
          <p:cNvPr id="67" name="Google Shape;67;p1"/>
          <p:cNvSpPr txBox="1"/>
          <p:nvPr/>
        </p:nvSpPr>
        <p:spPr>
          <a:xfrm>
            <a:off x="671250" y="2741125"/>
            <a:ext cx="7801500" cy="7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700">
                <a:solidFill>
                  <a:srgbClr val="C3DAF9"/>
                </a:solidFill>
                <a:latin typeface="Calibri"/>
                <a:ea typeface="Calibri"/>
                <a:cs typeface="Calibri"/>
                <a:sym typeface="Calibri"/>
              </a:rPr>
              <a:t>TS-10: Ghost Water Detector</a:t>
            </a:r>
            <a:endParaRPr sz="3700">
              <a:solidFill>
                <a:srgbClr val="C3DAF9"/>
              </a:solidFill>
              <a:latin typeface="Calibri"/>
              <a:ea typeface="Calibri"/>
              <a:cs typeface="Calibri"/>
              <a:sym typeface="Calibri"/>
            </a:endParaRPr>
          </a:p>
          <a:p>
            <a:pPr indent="0" lvl="0" marL="0" rtl="0" algn="ctr">
              <a:spcBef>
                <a:spcPts val="0"/>
              </a:spcBef>
              <a:spcAft>
                <a:spcPts val="0"/>
              </a:spcAft>
              <a:buNone/>
            </a:pPr>
            <a:r>
              <a:t/>
            </a:r>
            <a:endParaRPr sz="3900">
              <a:solidFill>
                <a:srgbClr val="C3DAF9"/>
              </a:solidFill>
              <a:latin typeface="Calibri"/>
              <a:ea typeface="Calibri"/>
              <a:cs typeface="Calibri"/>
              <a:sym typeface="Calibri"/>
            </a:endParaRPr>
          </a:p>
          <a:p>
            <a:pPr indent="0" lvl="0" marL="0" rtl="0" algn="ctr">
              <a:spcBef>
                <a:spcPts val="0"/>
              </a:spcBef>
              <a:spcAft>
                <a:spcPts val="0"/>
              </a:spcAft>
              <a:buClr>
                <a:schemeClr val="dk1"/>
              </a:buClr>
              <a:buSzPts val="4400"/>
              <a:buFont typeface="Calibri"/>
              <a:buNone/>
            </a:pPr>
            <a:r>
              <a:rPr lang="en-US" sz="2700">
                <a:solidFill>
                  <a:srgbClr val="C3DAF9"/>
                </a:solidFill>
                <a:latin typeface="Calibri"/>
                <a:ea typeface="Calibri"/>
                <a:cs typeface="Calibri"/>
                <a:sym typeface="Calibri"/>
              </a:rPr>
              <a:t>Domain : Water Conservation</a:t>
            </a:r>
            <a:endParaRPr sz="2700">
              <a:solidFill>
                <a:srgbClr val="C3DAF9"/>
              </a:solidFill>
              <a:latin typeface="Calibri"/>
              <a:ea typeface="Calibri"/>
              <a:cs typeface="Calibri"/>
              <a:sym typeface="Calibri"/>
            </a:endParaRPr>
          </a:p>
          <a:p>
            <a:pPr indent="0" lvl="0" marL="0" rtl="0" algn="l">
              <a:spcBef>
                <a:spcPts val="0"/>
              </a:spcBef>
              <a:spcAft>
                <a:spcPts val="0"/>
              </a:spcAft>
              <a:buNone/>
            </a:pPr>
            <a:r>
              <a:t/>
            </a:r>
            <a:endParaRPr sz="1300">
              <a:solidFill>
                <a:srgbClr val="C3DAF9"/>
              </a:solidFill>
              <a:latin typeface="Average"/>
              <a:ea typeface="Average"/>
              <a:cs typeface="Average"/>
              <a:sym typeface="Averag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3dffc357a2c_1_0"/>
          <p:cNvSpPr txBox="1"/>
          <p:nvPr>
            <p:ph type="ctrTitle"/>
          </p:nvPr>
        </p:nvSpPr>
        <p:spPr>
          <a:xfrm>
            <a:off x="671250" y="675942"/>
            <a:ext cx="7801500" cy="1117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US"/>
              <a:t>Group Members</a:t>
            </a:r>
            <a:endParaRPr/>
          </a:p>
        </p:txBody>
      </p:sp>
      <p:sp>
        <p:nvSpPr>
          <p:cNvPr id="73" name="Google Shape;73;g3dffc357a2c_1_0"/>
          <p:cNvSpPr txBox="1"/>
          <p:nvPr>
            <p:ph idx="1" type="subTitle"/>
          </p:nvPr>
        </p:nvSpPr>
        <p:spPr>
          <a:xfrm>
            <a:off x="671250" y="1849228"/>
            <a:ext cx="7801500" cy="16830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AutoNum type="arabicPeriod"/>
            </a:pPr>
            <a:r>
              <a:rPr lang="en-US"/>
              <a:t>Prince  Chovatiya</a:t>
            </a:r>
            <a:endParaRPr/>
          </a:p>
          <a:p>
            <a:pPr indent="-361950" lvl="0" marL="457200" rtl="0" algn="l">
              <a:spcBef>
                <a:spcPts val="0"/>
              </a:spcBef>
              <a:spcAft>
                <a:spcPts val="0"/>
              </a:spcAft>
              <a:buSzPts val="2100"/>
              <a:buAutoNum type="arabicPeriod"/>
            </a:pPr>
            <a:r>
              <a:rPr lang="en-US"/>
              <a:t>Jainil Jagtap</a:t>
            </a:r>
            <a:endParaRPr/>
          </a:p>
          <a:p>
            <a:pPr indent="-361950" lvl="0" marL="457200" rtl="0" algn="l">
              <a:spcBef>
                <a:spcPts val="0"/>
              </a:spcBef>
              <a:spcAft>
                <a:spcPts val="0"/>
              </a:spcAft>
              <a:buSzPts val="2100"/>
              <a:buAutoNum type="arabicPeriod"/>
            </a:pPr>
            <a:r>
              <a:rPr lang="en-US"/>
              <a:t>Siddhant </a:t>
            </a:r>
            <a:r>
              <a:rPr lang="en-US"/>
              <a:t>Shekhar</a:t>
            </a:r>
            <a:endParaRPr/>
          </a:p>
          <a:p>
            <a:pPr indent="-361950" lvl="0" marL="457200" rtl="0" algn="l">
              <a:spcBef>
                <a:spcPts val="0"/>
              </a:spcBef>
              <a:spcAft>
                <a:spcPts val="0"/>
              </a:spcAft>
              <a:buSzPts val="2100"/>
              <a:buAutoNum type="arabicPeriod"/>
            </a:pPr>
            <a:r>
              <a:rPr lang="en-US"/>
              <a:t>Vraj Parikh</a:t>
            </a:r>
            <a:endParaRPr/>
          </a:p>
        </p:txBody>
      </p:sp>
      <p:sp>
        <p:nvSpPr>
          <p:cNvPr id="74" name="Google Shape;74;g3dffc357a2c_1_0"/>
          <p:cNvSpPr txBox="1"/>
          <p:nvPr>
            <p:ph idx="1" type="subTitle"/>
          </p:nvPr>
        </p:nvSpPr>
        <p:spPr>
          <a:xfrm>
            <a:off x="781600" y="4161403"/>
            <a:ext cx="7801500" cy="2105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US" sz="2300">
                <a:solidFill>
                  <a:schemeClr val="dk1"/>
                </a:solidFill>
              </a:rPr>
              <a:t>About Us :</a:t>
            </a:r>
            <a:endParaRPr sz="23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We are students of </a:t>
            </a:r>
            <a:r>
              <a:rPr lang="en-US">
                <a:solidFill>
                  <a:schemeClr val="dk1"/>
                </a:solidFill>
              </a:rPr>
              <a:t>DA-IICT</a:t>
            </a:r>
            <a:r>
              <a:rPr lang="en-US">
                <a:solidFill>
                  <a:schemeClr val="dk1"/>
                </a:solidFill>
              </a:rPr>
              <a:t> pursuing out BTech in Information and Communication Technology. Currently we all are pre-final year students and tech enthusiasts and have interest in working on tech powered solution of betterment of our society.</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3"/>
          <p:cNvSpPr txBox="1"/>
          <p:nvPr>
            <p:ph type="title"/>
          </p:nvPr>
        </p:nvSpPr>
        <p:spPr>
          <a:xfrm>
            <a:off x="457200" y="50245"/>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rgbClr val="C3DAF9"/>
                </a:solidFill>
                <a:latin typeface="Calibri"/>
                <a:ea typeface="Calibri"/>
                <a:cs typeface="Calibri"/>
                <a:sym typeface="Calibri"/>
              </a:rPr>
              <a:t>The Crisis of Non-Revenue Water (NRW) in Gujarat</a:t>
            </a:r>
            <a:endParaRPr>
              <a:solidFill>
                <a:srgbClr val="C3DAF9"/>
              </a:solidFill>
            </a:endParaRPr>
          </a:p>
        </p:txBody>
      </p:sp>
      <p:sp>
        <p:nvSpPr>
          <p:cNvPr id="80" name="Google Shape;80;p3"/>
          <p:cNvSpPr txBox="1"/>
          <p:nvPr>
            <p:ph idx="1" type="body"/>
          </p:nvPr>
        </p:nvSpPr>
        <p:spPr>
          <a:xfrm>
            <a:off x="457200" y="1488004"/>
            <a:ext cx="8229600" cy="4526100"/>
          </a:xfrm>
          <a:prstGeom prst="rect">
            <a:avLst/>
          </a:prstGeom>
          <a:noFill/>
          <a:ln>
            <a:noFill/>
          </a:ln>
        </p:spPr>
        <p:txBody>
          <a:bodyPr anchorCtr="0" anchor="t" bIns="45700" lIns="91425" spcFirstLastPara="1" rIns="91425" wrap="square" tIns="45700">
            <a:noAutofit/>
          </a:bodyPr>
          <a:lstStyle/>
          <a:p>
            <a:pPr indent="-279400" lvl="0" marL="342900" rtl="0" algn="l">
              <a:spcBef>
                <a:spcPts val="0"/>
              </a:spcBef>
              <a:spcAft>
                <a:spcPts val="0"/>
              </a:spcAft>
              <a:buClr>
                <a:schemeClr val="dk1"/>
              </a:buClr>
              <a:buSzPts val="2200"/>
              <a:buChar char="●"/>
            </a:pPr>
            <a:r>
              <a:rPr lang="en-US" sz="2200">
                <a:solidFill>
                  <a:schemeClr val="dk1"/>
                </a:solidFill>
                <a:latin typeface="Calibri"/>
                <a:ea typeface="Calibri"/>
                <a:cs typeface="Calibri"/>
                <a:sym typeface="Calibri"/>
              </a:rPr>
              <a:t>The Issue: Gujarat’s municipal water utilities lose a staggering 35% to 55% of treated water before it reaches a billed tap.</a:t>
            </a:r>
            <a:endParaRPr sz="2200"/>
          </a:p>
          <a:p>
            <a:pPr indent="-279400" lvl="0" marL="342900" rtl="0" algn="l">
              <a:spcBef>
                <a:spcPts val="640"/>
              </a:spcBef>
              <a:spcAft>
                <a:spcPts val="0"/>
              </a:spcAft>
              <a:buClr>
                <a:schemeClr val="dk1"/>
              </a:buClr>
              <a:buSzPts val="2200"/>
              <a:buChar char="●"/>
            </a:pPr>
            <a:r>
              <a:rPr lang="en-US" sz="2200">
                <a:solidFill>
                  <a:schemeClr val="dk1"/>
                </a:solidFill>
                <a:latin typeface="Calibri"/>
                <a:ea typeface="Calibri"/>
                <a:cs typeface="Calibri"/>
                <a:sym typeface="Calibri"/>
              </a:rPr>
              <a:t>The Culprit: Non-Revenue Water (NRW) takes the form of structural leaks, pipeline bursts, slow seepage, illegal connections, and meter tampering.</a:t>
            </a:r>
            <a:endParaRPr sz="2200"/>
          </a:p>
          <a:p>
            <a:pPr indent="-279400" lvl="0" marL="342900" rtl="0" algn="l">
              <a:spcBef>
                <a:spcPts val="640"/>
              </a:spcBef>
              <a:spcAft>
                <a:spcPts val="0"/>
              </a:spcAft>
              <a:buClr>
                <a:schemeClr val="dk1"/>
              </a:buClr>
              <a:buSzPts val="2200"/>
              <a:buChar char="●"/>
            </a:pPr>
            <a:r>
              <a:rPr lang="en-US" sz="2200">
                <a:solidFill>
                  <a:schemeClr val="dk1"/>
                </a:solidFill>
                <a:latin typeface="Calibri"/>
                <a:ea typeface="Calibri"/>
                <a:cs typeface="Calibri"/>
                <a:sym typeface="Calibri"/>
              </a:rPr>
              <a:t>The Blind Spot: While utilities know water is being lost, they lack real-time visibility. It is practically impossible to manually determine </a:t>
            </a:r>
            <a:r>
              <a:rPr b="1" lang="en-US" sz="2200" u="sng">
                <a:solidFill>
                  <a:schemeClr val="dk1"/>
                </a:solidFill>
                <a:latin typeface="Calibri"/>
                <a:ea typeface="Calibri"/>
                <a:cs typeface="Calibri"/>
                <a:sym typeface="Calibri"/>
              </a:rPr>
              <a:t>where </a:t>
            </a:r>
            <a:r>
              <a:rPr lang="en-US" sz="2200">
                <a:solidFill>
                  <a:schemeClr val="dk1"/>
                </a:solidFill>
                <a:latin typeface="Calibri"/>
                <a:ea typeface="Calibri"/>
                <a:cs typeface="Calibri"/>
                <a:sym typeface="Calibri"/>
              </a:rPr>
              <a:t>exactly the loss is happening, </a:t>
            </a:r>
            <a:r>
              <a:rPr b="1" lang="en-US" sz="2200" u="sng">
                <a:solidFill>
                  <a:schemeClr val="dk1"/>
                </a:solidFill>
                <a:latin typeface="Calibri"/>
                <a:ea typeface="Calibri"/>
                <a:cs typeface="Calibri"/>
                <a:sym typeface="Calibri"/>
              </a:rPr>
              <a:t>when </a:t>
            </a:r>
            <a:r>
              <a:rPr lang="en-US" sz="2200">
                <a:solidFill>
                  <a:schemeClr val="dk1"/>
                </a:solidFill>
                <a:latin typeface="Calibri"/>
                <a:ea typeface="Calibri"/>
                <a:cs typeface="Calibri"/>
                <a:sym typeface="Calibri"/>
              </a:rPr>
              <a:t>it started, and </a:t>
            </a:r>
            <a:r>
              <a:rPr b="1" lang="en-US" sz="2200" u="sng">
                <a:solidFill>
                  <a:schemeClr val="dk1"/>
                </a:solidFill>
                <a:latin typeface="Calibri"/>
                <a:ea typeface="Calibri"/>
                <a:cs typeface="Calibri"/>
                <a:sym typeface="Calibri"/>
              </a:rPr>
              <a:t>what </a:t>
            </a:r>
            <a:r>
              <a:rPr lang="en-US" sz="2200">
                <a:solidFill>
                  <a:schemeClr val="dk1"/>
                </a:solidFill>
                <a:latin typeface="Calibri"/>
                <a:ea typeface="Calibri"/>
                <a:cs typeface="Calibri"/>
                <a:sym typeface="Calibri"/>
              </a:rPr>
              <a:t>type of loss it is.</a:t>
            </a:r>
            <a:endParaRPr sz="2200"/>
          </a:p>
          <a:p>
            <a:pPr indent="-279400" lvl="0" marL="342900" rtl="0" algn="l">
              <a:spcBef>
                <a:spcPts val="640"/>
              </a:spcBef>
              <a:spcAft>
                <a:spcPts val="1200"/>
              </a:spcAft>
              <a:buClr>
                <a:schemeClr val="dk1"/>
              </a:buClr>
              <a:buSzPts val="2200"/>
              <a:buChar char="●"/>
            </a:pPr>
            <a:r>
              <a:rPr lang="en-US" sz="2200">
                <a:solidFill>
                  <a:schemeClr val="dk1"/>
                </a:solidFill>
                <a:latin typeface="Calibri"/>
                <a:ea typeface="Calibri"/>
                <a:cs typeface="Calibri"/>
                <a:sym typeface="Calibri"/>
              </a:rPr>
              <a:t>The Consequence: Millions of liters of treated water and revenue are lost daily, alongside delayed maintenance that causes further infrastructure degradation.</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type="title"/>
          </p:nvPr>
        </p:nvSpPr>
        <p:spPr>
          <a:xfrm>
            <a:off x="457200" y="50245"/>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C3DAF9"/>
                </a:solidFill>
                <a:latin typeface="Calibri"/>
                <a:ea typeface="Calibri"/>
                <a:cs typeface="Calibri"/>
                <a:sym typeface="Calibri"/>
              </a:rPr>
              <a:t>What Are We Solving?</a:t>
            </a:r>
            <a:endParaRPr>
              <a:solidFill>
                <a:srgbClr val="C3DAF9"/>
              </a:solidFill>
            </a:endParaRPr>
          </a:p>
        </p:txBody>
      </p:sp>
      <p:sp>
        <p:nvSpPr>
          <p:cNvPr id="86" name="Google Shape;86;p4"/>
          <p:cNvSpPr txBox="1"/>
          <p:nvPr>
            <p:ph idx="1" type="body"/>
          </p:nvPr>
        </p:nvSpPr>
        <p:spPr>
          <a:xfrm>
            <a:off x="457200" y="1488004"/>
            <a:ext cx="8229600" cy="45261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None/>
            </a:pPr>
            <a:r>
              <a:rPr lang="en-US" sz="2200">
                <a:solidFill>
                  <a:schemeClr val="dk1"/>
                </a:solidFill>
                <a:latin typeface="Calibri"/>
                <a:ea typeface="Calibri"/>
                <a:cs typeface="Calibri"/>
                <a:sym typeface="Calibri"/>
              </a:rPr>
              <a:t>Objective: To build a predictive pressure-pattern analysis system using time-series data from a 3-zone municipal distribution network.</a:t>
            </a:r>
            <a:endParaRPr sz="2200">
              <a:solidFill>
                <a:schemeClr val="dk1"/>
              </a:solidFill>
              <a:latin typeface="Calibri"/>
              <a:ea typeface="Calibri"/>
              <a:cs typeface="Calibri"/>
              <a:sym typeface="Calibri"/>
            </a:endParaRPr>
          </a:p>
          <a:p>
            <a:pPr indent="0" lvl="0" marL="0" rtl="0" algn="l">
              <a:spcBef>
                <a:spcPts val="0"/>
              </a:spcBef>
              <a:spcAft>
                <a:spcPts val="0"/>
              </a:spcAft>
              <a:buNone/>
            </a:pPr>
            <a:r>
              <a:t/>
            </a:r>
            <a:endParaRPr sz="2200">
              <a:solidFill>
                <a:schemeClr val="dk1"/>
              </a:solidFill>
              <a:latin typeface="Calibri"/>
              <a:ea typeface="Calibri"/>
              <a:cs typeface="Calibri"/>
              <a:sym typeface="Calibri"/>
            </a:endParaRPr>
          </a:p>
          <a:p>
            <a:pPr indent="0" lvl="0" marL="0" rtl="0" algn="l">
              <a:spcBef>
                <a:spcPts val="640"/>
              </a:spcBef>
              <a:spcAft>
                <a:spcPts val="0"/>
              </a:spcAft>
              <a:buNone/>
            </a:pPr>
            <a:r>
              <a:rPr lang="en-US" sz="2200">
                <a:solidFill>
                  <a:schemeClr val="dk1"/>
                </a:solidFill>
                <a:latin typeface="Calibri"/>
                <a:ea typeface="Calibri"/>
                <a:cs typeface="Calibri"/>
                <a:sym typeface="Calibri"/>
              </a:rPr>
              <a:t>Core Capabilities Required:</a:t>
            </a:r>
            <a:endParaRPr sz="2200"/>
          </a:p>
          <a:p>
            <a:pPr indent="0" lvl="0" marL="342900" rtl="0" algn="l">
              <a:spcBef>
                <a:spcPts val="640"/>
              </a:spcBef>
              <a:spcAft>
                <a:spcPts val="0"/>
              </a:spcAft>
              <a:buNone/>
            </a:pPr>
            <a:r>
              <a:rPr lang="en-US" sz="2200">
                <a:solidFill>
                  <a:schemeClr val="dk1"/>
                </a:solidFill>
                <a:latin typeface="Calibri"/>
                <a:ea typeface="Calibri"/>
                <a:cs typeface="Calibri"/>
                <a:sym typeface="Calibri"/>
              </a:rPr>
              <a:t>1.  Detect: Identify anomaly signatures indicating exact NRW types.</a:t>
            </a:r>
            <a:endParaRPr sz="2200"/>
          </a:p>
          <a:p>
            <a:pPr indent="0" lvl="0" marL="342900" rtl="0" algn="l">
              <a:spcBef>
                <a:spcPts val="640"/>
              </a:spcBef>
              <a:spcAft>
                <a:spcPts val="0"/>
              </a:spcAft>
              <a:buNone/>
            </a:pPr>
            <a:r>
              <a:rPr lang="en-US" sz="2200">
                <a:solidFill>
                  <a:schemeClr val="dk1"/>
                </a:solidFill>
                <a:latin typeface="Calibri"/>
                <a:ea typeface="Calibri"/>
                <a:cs typeface="Calibri"/>
                <a:sym typeface="Calibri"/>
              </a:rPr>
              <a:t>2.  Localize: Pinpoint the problematic event to a highly specific 50-metre pipe segment.</a:t>
            </a:r>
            <a:endParaRPr sz="2200"/>
          </a:p>
          <a:p>
            <a:pPr indent="0" lvl="0" marL="342900" rtl="0" algn="l">
              <a:spcBef>
                <a:spcPts val="640"/>
              </a:spcBef>
              <a:spcAft>
                <a:spcPts val="0"/>
              </a:spcAft>
              <a:buNone/>
            </a:pPr>
            <a:r>
              <a:rPr lang="en-US" sz="2200">
                <a:solidFill>
                  <a:schemeClr val="dk1"/>
                </a:solidFill>
                <a:latin typeface="Calibri"/>
                <a:ea typeface="Calibri"/>
                <a:cs typeface="Calibri"/>
                <a:sym typeface="Calibri"/>
              </a:rPr>
              <a:t>3.  Dispatch: Automatically dispatch a prioritized, structured work order to the nearest field crew via WhatsApp.</a:t>
            </a:r>
            <a:endParaRPr sz="2200">
              <a:solidFill>
                <a:schemeClr val="dk1"/>
              </a:solidFill>
              <a:latin typeface="Calibri"/>
              <a:ea typeface="Calibri"/>
              <a:cs typeface="Calibri"/>
              <a:sym typeface="Calibri"/>
            </a:endParaRPr>
          </a:p>
          <a:p>
            <a:pPr indent="0" lvl="0" marL="342900" rtl="0" algn="l">
              <a:spcBef>
                <a:spcPts val="640"/>
              </a:spcBef>
              <a:spcAft>
                <a:spcPts val="0"/>
              </a:spcAft>
              <a:buNone/>
            </a:pPr>
            <a:r>
              <a:t/>
            </a:r>
            <a:endParaRPr sz="2200">
              <a:solidFill>
                <a:schemeClr val="dk1"/>
              </a:solidFill>
              <a:latin typeface="Calibri"/>
              <a:ea typeface="Calibri"/>
              <a:cs typeface="Calibri"/>
              <a:sym typeface="Calibri"/>
            </a:endParaRPr>
          </a:p>
          <a:p>
            <a:pPr indent="0" lvl="0" marL="0" rtl="0" algn="l">
              <a:spcBef>
                <a:spcPts val="640"/>
              </a:spcBef>
              <a:spcAft>
                <a:spcPts val="0"/>
              </a:spcAft>
              <a:buNone/>
            </a:pPr>
            <a:r>
              <a:rPr lang="en-US" sz="2200">
                <a:solidFill>
                  <a:schemeClr val="dk1"/>
                </a:solidFill>
                <a:latin typeface="Calibri"/>
                <a:ea typeface="Calibri"/>
                <a:cs typeface="Calibri"/>
                <a:sym typeface="Calibri"/>
              </a:rPr>
              <a:t>The Benchmark: The system must differentiate between actual water loss and normal daily demand spikes (like the morning peak) to drastically reduce false positives.</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5"/>
          <p:cNvSpPr txBox="1"/>
          <p:nvPr>
            <p:ph type="title"/>
          </p:nvPr>
        </p:nvSpPr>
        <p:spPr>
          <a:xfrm>
            <a:off x="457200" y="36221"/>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rgbClr val="C3DAF9"/>
                </a:solidFill>
                <a:latin typeface="Calibri"/>
                <a:ea typeface="Calibri"/>
                <a:cs typeface="Calibri"/>
                <a:sym typeface="Calibri"/>
              </a:rPr>
              <a:t>The 'Ghost Water' Detection Framework</a:t>
            </a:r>
            <a:endParaRPr>
              <a:solidFill>
                <a:srgbClr val="C3DAF9"/>
              </a:solidFill>
            </a:endParaRPr>
          </a:p>
        </p:txBody>
      </p:sp>
      <p:sp>
        <p:nvSpPr>
          <p:cNvPr id="92" name="Google Shape;92;p5"/>
          <p:cNvSpPr txBox="1"/>
          <p:nvPr>
            <p:ph idx="1" type="body"/>
          </p:nvPr>
        </p:nvSpPr>
        <p:spPr>
          <a:xfrm>
            <a:off x="457200" y="1572151"/>
            <a:ext cx="8229600" cy="4526100"/>
          </a:xfrm>
          <a:prstGeom prst="rect">
            <a:avLst/>
          </a:prstGeom>
          <a:noFill/>
          <a:ln>
            <a:noFill/>
          </a:ln>
        </p:spPr>
        <p:txBody>
          <a:bodyPr anchorCtr="0" anchor="t" bIns="45700" lIns="91425" spcFirstLastPara="1" rIns="91425" wrap="square" tIns="45700">
            <a:noAutofit/>
          </a:bodyPr>
          <a:lstStyle/>
          <a:p>
            <a:pPr indent="-292100" lvl="0" marL="342900" rtl="0" algn="l">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D</a:t>
            </a:r>
            <a:r>
              <a:rPr lang="en-US" sz="2400">
                <a:solidFill>
                  <a:schemeClr val="dk1"/>
                </a:solidFill>
                <a:latin typeface="Calibri"/>
                <a:ea typeface="Calibri"/>
                <a:cs typeface="Calibri"/>
                <a:sym typeface="Calibri"/>
              </a:rPr>
              <a:t>ata Ingestion Layer: Continuous ingestion of simulated time-series pressure sensor data and historical demand patterns.</a:t>
            </a:r>
            <a:endParaRPr sz="2400"/>
          </a:p>
          <a:p>
            <a:pPr indent="-292100" lvl="0" marL="342900" rtl="0" algn="l">
              <a:spcBef>
                <a:spcPts val="640"/>
              </a:spcBef>
              <a:spcAft>
                <a:spcPts val="0"/>
              </a:spcAft>
              <a:buClr>
                <a:schemeClr val="dk1"/>
              </a:buClr>
              <a:buSzPts val="2400"/>
              <a:buChar char="●"/>
            </a:pPr>
            <a:r>
              <a:rPr lang="en-US" sz="2400">
                <a:solidFill>
                  <a:schemeClr val="dk1"/>
                </a:solidFill>
                <a:latin typeface="Calibri"/>
                <a:ea typeface="Calibri"/>
                <a:cs typeface="Calibri"/>
                <a:sym typeface="Calibri"/>
              </a:rPr>
              <a:t>Intelligence Engine: Machine Learning models analyzing real-time pressure variations against historical baselines.</a:t>
            </a:r>
            <a:endParaRPr sz="2400"/>
          </a:p>
          <a:p>
            <a:pPr indent="-292100" lvl="0" marL="342900" rtl="0" algn="l">
              <a:spcBef>
                <a:spcPts val="640"/>
              </a:spcBef>
              <a:spcAft>
                <a:spcPts val="0"/>
              </a:spcAft>
              <a:buClr>
                <a:schemeClr val="dk1"/>
              </a:buClr>
              <a:buSzPts val="2400"/>
              <a:buChar char="●"/>
            </a:pPr>
            <a:r>
              <a:rPr lang="en-US" sz="2400">
                <a:solidFill>
                  <a:schemeClr val="dk1"/>
                </a:solidFill>
                <a:latin typeface="Calibri"/>
                <a:ea typeface="Calibri"/>
                <a:cs typeface="Calibri"/>
                <a:sym typeface="Calibri"/>
              </a:rPr>
              <a:t>Spatial / GIS Layer: Superimposing anomalous data onto the AMC/JMC ward boundary basemap to calculate coordinates.</a:t>
            </a:r>
            <a:endParaRPr sz="2400"/>
          </a:p>
          <a:p>
            <a:pPr indent="-292100" lvl="0" marL="342900" rtl="0" algn="l">
              <a:spcBef>
                <a:spcPts val="640"/>
              </a:spcBef>
              <a:spcAft>
                <a:spcPts val="1200"/>
              </a:spcAft>
              <a:buClr>
                <a:schemeClr val="dk1"/>
              </a:buClr>
              <a:buSzPts val="2400"/>
              <a:buChar char="●"/>
            </a:pPr>
            <a:r>
              <a:rPr lang="en-US" sz="2400">
                <a:solidFill>
                  <a:schemeClr val="dk1"/>
                </a:solidFill>
                <a:latin typeface="Calibri"/>
                <a:ea typeface="Calibri"/>
                <a:cs typeface="Calibri"/>
                <a:sym typeface="Calibri"/>
              </a:rPr>
              <a:t>Action / Dispatch Layer: An automated WhatsApp-based communication bridge sending actionable Intel directly to field workers' existing smartphones.</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ph type="title"/>
          </p:nvPr>
        </p:nvSpPr>
        <p:spPr>
          <a:xfrm>
            <a:off x="457200" y="36221"/>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C3DAF9"/>
                </a:solidFill>
                <a:latin typeface="Calibri"/>
                <a:ea typeface="Calibri"/>
                <a:cs typeface="Calibri"/>
                <a:sym typeface="Calibri"/>
              </a:rPr>
              <a:t>How the Data Flows</a:t>
            </a:r>
            <a:endParaRPr>
              <a:solidFill>
                <a:srgbClr val="C3DAF9"/>
              </a:solidFill>
            </a:endParaRPr>
          </a:p>
        </p:txBody>
      </p:sp>
      <p:sp>
        <p:nvSpPr>
          <p:cNvPr id="98" name="Google Shape;98;p6"/>
          <p:cNvSpPr txBox="1"/>
          <p:nvPr>
            <p:ph idx="1" type="body"/>
          </p:nvPr>
        </p:nvSpPr>
        <p:spPr>
          <a:xfrm>
            <a:off x="457200" y="1165208"/>
            <a:ext cx="8229600" cy="4889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Steps :</a:t>
            </a:r>
            <a:endParaRPr sz="1900">
              <a:solidFill>
                <a:schemeClr val="dk1"/>
              </a:solidFill>
              <a:latin typeface="Calibri"/>
              <a:ea typeface="Calibri"/>
              <a:cs typeface="Calibri"/>
              <a:sym typeface="Calibri"/>
            </a:endParaRPr>
          </a:p>
          <a:p>
            <a:pPr indent="-349250" lvl="0" marL="45720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Ingestion &amp; Monitoring: Smart pressure sensors stream raw time-series data into the central intelligence engine, merging it with historical baseline data.</a:t>
            </a:r>
            <a:endParaRPr sz="1900"/>
          </a:p>
          <a:p>
            <a:pPr indent="-349250" lvl="0" marL="45720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Algorithmic Scrutiny: The core ML model evaluates pressure drops in real-time. False positives (like morning peak usage) are instantly discarded; true anomalies are classified based on their signature waveforms.</a:t>
            </a:r>
            <a:endParaRPr sz="1900"/>
          </a:p>
          <a:p>
            <a:pPr indent="-349250" lvl="0" marL="45720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Spatial Tracing: A validated anomaly triggers an interaction with the AMC GIS layer. The system maps the event to a specific 50-metre pipeline segment and calculates daily volume loss.</a:t>
            </a:r>
            <a:endParaRPr sz="1900"/>
          </a:p>
          <a:p>
            <a:pPr indent="-349250" lvl="0" marL="45720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Dispatch Execution: The backend formulates a structured work order payload and hits the Meta WhatsApp messaging API, routing it to the right crew.</a:t>
            </a:r>
            <a:endParaRPr sz="1900"/>
          </a:p>
          <a:p>
            <a:pPr indent="-349250" lvl="0" marL="45720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Resolution Loop: The crew resolves the issue and replies 'DONE', closing the ticket in the central database and feeding back validation data to retrain the ML model.</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7"/>
          <p:cNvSpPr txBox="1"/>
          <p:nvPr>
            <p:ph type="title"/>
          </p:nvPr>
        </p:nvSpPr>
        <p:spPr>
          <a:xfrm>
            <a:off x="457200" y="36221"/>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rgbClr val="C3DAF9"/>
                </a:solidFill>
                <a:latin typeface="Calibri"/>
                <a:ea typeface="Calibri"/>
                <a:cs typeface="Calibri"/>
                <a:sym typeface="Calibri"/>
              </a:rPr>
              <a:t>User Interaction Across the Data Flow</a:t>
            </a:r>
            <a:endParaRPr>
              <a:solidFill>
                <a:srgbClr val="C3DAF9"/>
              </a:solidFill>
            </a:endParaRPr>
          </a:p>
        </p:txBody>
      </p:sp>
      <p:sp>
        <p:nvSpPr>
          <p:cNvPr id="104" name="Google Shape;104;p7"/>
          <p:cNvSpPr txBox="1"/>
          <p:nvPr>
            <p:ph idx="1" type="body"/>
          </p:nvPr>
        </p:nvSpPr>
        <p:spPr>
          <a:xfrm>
            <a:off x="457200" y="1473979"/>
            <a:ext cx="8229600" cy="4526100"/>
          </a:xfrm>
          <a:prstGeom prst="rect">
            <a:avLst/>
          </a:prstGeom>
          <a:noFill/>
          <a:ln>
            <a:noFill/>
          </a:ln>
        </p:spPr>
        <p:txBody>
          <a:bodyPr anchorCtr="0" anchor="t" bIns="45700" lIns="91425" spcFirstLastPara="1" rIns="91425" wrap="square" tIns="45700">
            <a:normAutofit lnSpcReduction="20000"/>
          </a:bodyPr>
          <a:lstStyle/>
          <a:p>
            <a:pPr indent="-273050" lvl="0" marL="342900" rtl="0" algn="l">
              <a:spcBef>
                <a:spcPts val="0"/>
              </a:spcBef>
              <a:spcAft>
                <a:spcPts val="0"/>
              </a:spcAft>
              <a:buClr>
                <a:schemeClr val="dk1"/>
              </a:buClr>
              <a:buSzPts val="2100"/>
              <a:buChar char="●"/>
            </a:pPr>
            <a:r>
              <a:rPr lang="en-US" sz="2100">
                <a:solidFill>
                  <a:schemeClr val="dk1"/>
                </a:solidFill>
                <a:latin typeface="Calibri"/>
                <a:ea typeface="Calibri"/>
                <a:cs typeface="Calibri"/>
                <a:sym typeface="Calibri"/>
              </a:rPr>
              <a:t>Data Analysts: Act at the genesis of the data cycle. They configure the baseline thresholds and continuously analyze the historical outputs and false positive rates to refine the ML model.</a:t>
            </a:r>
            <a:endParaRPr sz="2100"/>
          </a:p>
          <a:p>
            <a:pPr indent="-273050" lvl="0" marL="342900" rtl="0" algn="l">
              <a:spcBef>
                <a:spcPts val="640"/>
              </a:spcBef>
              <a:spcAft>
                <a:spcPts val="0"/>
              </a:spcAft>
              <a:buClr>
                <a:schemeClr val="dk1"/>
              </a:buClr>
              <a:buSzPts val="2100"/>
              <a:buChar char="●"/>
            </a:pPr>
            <a:r>
              <a:rPr lang="en-US" sz="2100">
                <a:solidFill>
                  <a:schemeClr val="dk1"/>
                </a:solidFill>
                <a:latin typeface="Calibri"/>
                <a:ea typeface="Calibri"/>
                <a:cs typeface="Calibri"/>
                <a:sym typeface="Calibri"/>
              </a:rPr>
              <a:t>Zone Network Engineers: Operate at the validation checkpoint. They oversee the live data pipeline, reviewing automated classifications and mapping before final automated actions occur.</a:t>
            </a:r>
            <a:endParaRPr sz="2100"/>
          </a:p>
          <a:p>
            <a:pPr indent="-273050" lvl="0" marL="342900" rtl="0" algn="l">
              <a:spcBef>
                <a:spcPts val="640"/>
              </a:spcBef>
              <a:spcAft>
                <a:spcPts val="0"/>
              </a:spcAft>
              <a:buClr>
                <a:schemeClr val="dk1"/>
              </a:buClr>
              <a:buSzPts val="2100"/>
              <a:buChar char="●"/>
            </a:pPr>
            <a:r>
              <a:rPr lang="en-US" sz="2100">
                <a:solidFill>
                  <a:schemeClr val="dk1"/>
                </a:solidFill>
                <a:latin typeface="Calibri"/>
                <a:ea typeface="Calibri"/>
                <a:cs typeface="Calibri"/>
                <a:sym typeface="Calibri"/>
              </a:rPr>
              <a:t>Field Crews: The "Edge Nodes" of the data ecosystem. They receive processed intelligence (location, anomaly type) right on their phones. Their field action and response represent the final data input to close the loop.</a:t>
            </a:r>
            <a:endParaRPr sz="2100"/>
          </a:p>
          <a:p>
            <a:pPr indent="-273050" lvl="0" marL="342900" rtl="0" algn="l">
              <a:spcBef>
                <a:spcPts val="640"/>
              </a:spcBef>
              <a:spcAft>
                <a:spcPts val="1200"/>
              </a:spcAft>
              <a:buClr>
                <a:schemeClr val="dk1"/>
              </a:buClr>
              <a:buSzPts val="2100"/>
              <a:buChar char="●"/>
            </a:pPr>
            <a:r>
              <a:rPr lang="en-US" sz="2100">
                <a:solidFill>
                  <a:schemeClr val="dk1"/>
                </a:solidFill>
                <a:latin typeface="Calibri"/>
                <a:ea typeface="Calibri"/>
                <a:cs typeface="Calibri"/>
                <a:sym typeface="Calibri"/>
              </a:rPr>
              <a:t>Utility Managers: Aggregate observers. They consume the macro-analysis of the entire data pipeline via the city-wide dashboard, tracking the holistic impact on water preservation parameters.</a:t>
            </a:r>
            <a:endParaRPr sz="2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8"/>
          <p:cNvSpPr txBox="1"/>
          <p:nvPr>
            <p:ph type="title"/>
          </p:nvPr>
        </p:nvSpPr>
        <p:spPr>
          <a:xfrm>
            <a:off x="457200" y="22196"/>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C3DAF9"/>
                </a:solidFill>
                <a:latin typeface="Calibri"/>
                <a:ea typeface="Calibri"/>
                <a:cs typeface="Calibri"/>
                <a:sym typeface="Calibri"/>
              </a:rPr>
              <a:t>Target Users and Value Delivery</a:t>
            </a:r>
            <a:endParaRPr>
              <a:solidFill>
                <a:srgbClr val="C3DAF9"/>
              </a:solidFill>
            </a:endParaRPr>
          </a:p>
        </p:txBody>
      </p:sp>
      <p:sp>
        <p:nvSpPr>
          <p:cNvPr id="110" name="Google Shape;110;p8"/>
          <p:cNvSpPr txBox="1"/>
          <p:nvPr>
            <p:ph idx="1" type="body"/>
          </p:nvPr>
        </p:nvSpPr>
        <p:spPr>
          <a:xfrm>
            <a:off x="457200" y="1291660"/>
            <a:ext cx="8229600" cy="4526100"/>
          </a:xfrm>
          <a:prstGeom prst="rect">
            <a:avLst/>
          </a:prstGeom>
          <a:noFill/>
          <a:ln>
            <a:noFill/>
          </a:ln>
        </p:spPr>
        <p:txBody>
          <a:bodyPr anchorCtr="0" anchor="t" bIns="45700" lIns="91425" spcFirstLastPara="1" rIns="91425" wrap="square" tIns="45700">
            <a:noAutofit/>
          </a:bodyPr>
          <a:lstStyle/>
          <a:p>
            <a:pPr indent="-266700" lvl="0" marL="342900" rtl="0" algn="l">
              <a:spcBef>
                <a:spcPts val="0"/>
              </a:spcBef>
              <a:spcAft>
                <a:spcPts val="0"/>
              </a:spcAft>
              <a:buClr>
                <a:schemeClr val="dk1"/>
              </a:buClr>
              <a:buSzPts val="2000"/>
              <a:buChar char="●"/>
            </a:pPr>
            <a:r>
              <a:rPr lang="en-US" sz="2000">
                <a:solidFill>
                  <a:schemeClr val="dk1"/>
                </a:solidFill>
                <a:latin typeface="Calibri"/>
                <a:ea typeface="Calibri"/>
                <a:cs typeface="Calibri"/>
                <a:sym typeface="Calibri"/>
              </a:rPr>
              <a:t>Zone Network Engineer: Receives immediate system alerts on anomalies (pipe segment, NRW type, urgency). Uses the dashboard to confirm and automatically dispatch field crews via WhatsApp.</a:t>
            </a:r>
            <a:endParaRPr sz="2000"/>
          </a:p>
          <a:p>
            <a:pPr indent="-266700" lvl="0" marL="342900" rtl="0" algn="l">
              <a:spcBef>
                <a:spcPts val="640"/>
              </a:spcBef>
              <a:spcAft>
                <a:spcPts val="0"/>
              </a:spcAft>
              <a:buClr>
                <a:schemeClr val="dk1"/>
              </a:buClr>
              <a:buSzPts val="2000"/>
              <a:buChar char="●"/>
            </a:pPr>
            <a:r>
              <a:rPr lang="en-US" sz="2000">
                <a:solidFill>
                  <a:schemeClr val="dk1"/>
                </a:solidFill>
                <a:latin typeface="Calibri"/>
                <a:ea typeface="Calibri"/>
                <a:cs typeface="Calibri"/>
                <a:sym typeface="Calibri"/>
              </a:rPr>
              <a:t>Field Maintenance Crew: Receives a standardized WhatsApp message with a Google Maps location pin, the exact anomaly type, and urgency level. Travels to the site, fixes the issue, and easily replies 'DONE' to resolve the ticket.</a:t>
            </a:r>
            <a:endParaRPr sz="2000"/>
          </a:p>
          <a:p>
            <a:pPr indent="-266700" lvl="0" marL="342900" rtl="0" algn="l">
              <a:spcBef>
                <a:spcPts val="640"/>
              </a:spcBef>
              <a:spcAft>
                <a:spcPts val="0"/>
              </a:spcAft>
              <a:buClr>
                <a:schemeClr val="dk1"/>
              </a:buClr>
              <a:buSzPts val="2000"/>
              <a:buChar char="●"/>
            </a:pPr>
            <a:r>
              <a:rPr lang="en-US" sz="2000">
                <a:solidFill>
                  <a:schemeClr val="dk1"/>
                </a:solidFill>
                <a:latin typeface="Calibri"/>
                <a:ea typeface="Calibri"/>
                <a:cs typeface="Calibri"/>
                <a:sym typeface="Calibri"/>
              </a:rPr>
              <a:t>Utility Manager: Monitors a city-wide operational dashboard. Views an active map of all anomalies, quantifies daily water volume loss (in liters), and visualizes zone-wise NRW percentages.</a:t>
            </a:r>
            <a:endParaRPr sz="2000"/>
          </a:p>
          <a:p>
            <a:pPr indent="-266700" lvl="0" marL="342900" rtl="0" algn="l">
              <a:spcBef>
                <a:spcPts val="640"/>
              </a:spcBef>
              <a:spcAft>
                <a:spcPts val="1200"/>
              </a:spcAft>
              <a:buClr>
                <a:schemeClr val="dk1"/>
              </a:buClr>
              <a:buSzPts val="2000"/>
              <a:buChar char="●"/>
            </a:pPr>
            <a:r>
              <a:rPr lang="en-US" sz="2000">
                <a:solidFill>
                  <a:schemeClr val="dk1"/>
                </a:solidFill>
                <a:latin typeface="Calibri"/>
                <a:ea typeface="Calibri"/>
                <a:cs typeface="Calibri"/>
                <a:sym typeface="Calibri"/>
              </a:rPr>
              <a:t>Data Analyst: Queries anomaly historical data by zone, date, and type. Validates and fine-tunes the system by checking metrics like the false positive rate and exporting CSVs.</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9"/>
          <p:cNvSpPr txBox="1"/>
          <p:nvPr>
            <p:ph type="title"/>
          </p:nvPr>
        </p:nvSpPr>
        <p:spPr>
          <a:xfrm>
            <a:off x="457200" y="22196"/>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rgbClr val="C3DAF9"/>
                </a:solidFill>
                <a:latin typeface="Calibri"/>
                <a:ea typeface="Calibri"/>
                <a:cs typeface="Calibri"/>
                <a:sym typeface="Calibri"/>
              </a:rPr>
              <a:t>Innovation 1: Deep Time-Series Anomaly Classification</a:t>
            </a:r>
            <a:endParaRPr>
              <a:solidFill>
                <a:srgbClr val="C3DAF9"/>
              </a:solidFill>
            </a:endParaRPr>
          </a:p>
        </p:txBody>
      </p:sp>
      <p:sp>
        <p:nvSpPr>
          <p:cNvPr id="116" name="Google Shape;116;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20000"/>
          </a:bodyPr>
          <a:lstStyle/>
          <a:p>
            <a:pPr indent="-292100" lvl="0" marL="342900" rtl="0" algn="l">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Dynamic Baseline Tracking: We use historical demand pattern data to map expected pressure drops (e.g., standard "Morning Peak" usage). The model dynamically adjusts its baseline to effectively prevent false positives.</a:t>
            </a:r>
            <a:endParaRPr sz="2400"/>
          </a:p>
          <a:p>
            <a:pPr indent="-292100" lvl="0" marL="342900" rtl="0" algn="l">
              <a:spcBef>
                <a:spcPts val="640"/>
              </a:spcBef>
              <a:spcAft>
                <a:spcPts val="0"/>
              </a:spcAft>
              <a:buClr>
                <a:schemeClr val="dk1"/>
              </a:buClr>
              <a:buSzPts val="2400"/>
              <a:buChar char="●"/>
            </a:pPr>
            <a:r>
              <a:rPr lang="en-US" sz="2400">
                <a:solidFill>
                  <a:schemeClr val="dk1"/>
                </a:solidFill>
                <a:latin typeface="Calibri"/>
                <a:ea typeface="Calibri"/>
                <a:cs typeface="Calibri"/>
                <a:sym typeface="Calibri"/>
              </a:rPr>
              <a:t>Signature Classification: Instead of standard volumetric thresholding, the AI performs Deep Signature Classification to identify distinct pressure waveforms:</a:t>
            </a:r>
            <a:endParaRPr sz="2400"/>
          </a:p>
          <a:p>
            <a:pPr indent="-292100" lvl="0" marL="342900" rtl="0" algn="l">
              <a:spcBef>
                <a:spcPts val="640"/>
              </a:spcBef>
              <a:spcAft>
                <a:spcPts val="0"/>
              </a:spcAft>
              <a:buClr>
                <a:schemeClr val="dk1"/>
              </a:buClr>
              <a:buSzPts val="2400"/>
              <a:buChar char="●"/>
            </a:pPr>
            <a:r>
              <a:rPr lang="en-US" sz="2400">
                <a:solidFill>
                  <a:schemeClr val="dk1"/>
                </a:solidFill>
                <a:latin typeface="Calibri"/>
                <a:ea typeface="Calibri"/>
                <a:cs typeface="Calibri"/>
                <a:sym typeface="Calibri"/>
              </a:rPr>
              <a:t>Sudden, sharp pressure drops = Main Pipe Burst</a:t>
            </a:r>
            <a:endParaRPr sz="2400"/>
          </a:p>
          <a:p>
            <a:pPr indent="-292100" lvl="0" marL="342900" rtl="0" algn="l">
              <a:spcBef>
                <a:spcPts val="640"/>
              </a:spcBef>
              <a:spcAft>
                <a:spcPts val="0"/>
              </a:spcAft>
              <a:buClr>
                <a:schemeClr val="dk1"/>
              </a:buClr>
              <a:buSzPts val="2400"/>
              <a:buChar char="●"/>
            </a:pPr>
            <a:r>
              <a:rPr lang="en-US" sz="2400">
                <a:solidFill>
                  <a:schemeClr val="dk1"/>
                </a:solidFill>
                <a:latin typeface="Calibri"/>
                <a:ea typeface="Calibri"/>
                <a:cs typeface="Calibri"/>
                <a:sym typeface="Calibri"/>
              </a:rPr>
              <a:t>Sustained, continuous minor deviations = Slow Seepage</a:t>
            </a:r>
            <a:endParaRPr sz="2400"/>
          </a:p>
          <a:p>
            <a:pPr indent="-292100" lvl="0" marL="342900" rtl="0" algn="l">
              <a:spcBef>
                <a:spcPts val="640"/>
              </a:spcBef>
              <a:spcAft>
                <a:spcPts val="1200"/>
              </a:spcAft>
              <a:buClr>
                <a:schemeClr val="dk1"/>
              </a:buClr>
              <a:buSzPts val="2400"/>
              <a:buChar char="●"/>
            </a:pPr>
            <a:r>
              <a:rPr lang="en-US" sz="2400">
                <a:solidFill>
                  <a:schemeClr val="dk1"/>
                </a:solidFill>
                <a:latin typeface="Calibri"/>
                <a:ea typeface="Calibri"/>
                <a:cs typeface="Calibri"/>
                <a:sym typeface="Calibri"/>
              </a:rPr>
              <a:t>Cyclical, unauthorized pressure drops outside peak hours = Illegal Tap</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0"/>
          <p:cNvSpPr txBox="1"/>
          <p:nvPr>
            <p:ph type="title"/>
          </p:nvPr>
        </p:nvSpPr>
        <p:spPr>
          <a:xfrm>
            <a:off x="457200" y="22196"/>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rgbClr val="C3DAF9"/>
                </a:solidFill>
                <a:latin typeface="Calibri"/>
                <a:ea typeface="Calibri"/>
                <a:cs typeface="Calibri"/>
                <a:sym typeface="Calibri"/>
              </a:rPr>
              <a:t>Innovation 2: Geographic Localization &amp; Volume Estimation</a:t>
            </a:r>
            <a:endParaRPr>
              <a:solidFill>
                <a:srgbClr val="C3DAF9"/>
              </a:solidFill>
            </a:endParaRPr>
          </a:p>
        </p:txBody>
      </p:sp>
      <p:sp>
        <p:nvSpPr>
          <p:cNvPr id="122" name="Google Shape;122;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92100" lvl="0" marL="342900" rtl="0" algn="l">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GIS Integration: Overlaying network data onto the real AMC ward boundary GIS layer.</a:t>
            </a:r>
            <a:endParaRPr sz="2400"/>
          </a:p>
          <a:p>
            <a:pPr indent="-292100" lvl="0" marL="342900" rtl="0" algn="l">
              <a:spcBef>
                <a:spcPts val="640"/>
              </a:spcBef>
              <a:spcAft>
                <a:spcPts val="0"/>
              </a:spcAft>
              <a:buClr>
                <a:schemeClr val="dk1"/>
              </a:buClr>
              <a:buSzPts val="2400"/>
              <a:buChar char="●"/>
            </a:pPr>
            <a:r>
              <a:rPr lang="en-US" sz="2400">
                <a:solidFill>
                  <a:schemeClr val="dk1"/>
                </a:solidFill>
                <a:latin typeface="Calibri"/>
                <a:ea typeface="Calibri"/>
                <a:cs typeface="Calibri"/>
                <a:sym typeface="Calibri"/>
              </a:rPr>
              <a:t>50-Meter Pinpointing: By triangulating pressure loss gradients between adjacent smart sensors across the 3 zones, the algorithm narrows down the physical origin of the pressure drop to a highly targetable 50-meter radius.</a:t>
            </a:r>
            <a:endParaRPr sz="2400"/>
          </a:p>
          <a:p>
            <a:pPr indent="-292100" lvl="0" marL="342900" rtl="0" algn="l">
              <a:spcBef>
                <a:spcPts val="640"/>
              </a:spcBef>
              <a:spcAft>
                <a:spcPts val="1200"/>
              </a:spcAft>
              <a:buClr>
                <a:schemeClr val="dk1"/>
              </a:buClr>
              <a:buSzPts val="2400"/>
              <a:buChar char="●"/>
            </a:pPr>
            <a:r>
              <a:rPr lang="en-US" sz="2400">
                <a:solidFill>
                  <a:schemeClr val="dk1"/>
                </a:solidFill>
                <a:latin typeface="Calibri"/>
                <a:ea typeface="Calibri"/>
                <a:cs typeface="Calibri"/>
                <a:sym typeface="Calibri"/>
              </a:rPr>
              <a:t>Algorithmic Quantification: Applying hydraulic modeling principles to the rate of pressure drop to estimate the Daily Water Volume Loss (in Liters) for every detected anomaly, assisting utility managers in prioritizing high-impact leaks.</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1"/>
          <p:cNvSpPr txBox="1"/>
          <p:nvPr>
            <p:ph type="title"/>
          </p:nvPr>
        </p:nvSpPr>
        <p:spPr>
          <a:xfrm>
            <a:off x="457200" y="8172"/>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rgbClr val="C3DAF9"/>
                </a:solidFill>
                <a:latin typeface="Calibri"/>
                <a:ea typeface="Calibri"/>
                <a:cs typeface="Calibri"/>
                <a:sym typeface="Calibri"/>
              </a:rPr>
              <a:t>Innovation 3: Zero-Friction Field Operations via WhatsApp</a:t>
            </a:r>
            <a:endParaRPr>
              <a:solidFill>
                <a:srgbClr val="C3DAF9"/>
              </a:solidFill>
            </a:endParaRPr>
          </a:p>
        </p:txBody>
      </p:sp>
      <p:sp>
        <p:nvSpPr>
          <p:cNvPr id="128" name="Google Shape;128;p11"/>
          <p:cNvSpPr txBox="1"/>
          <p:nvPr>
            <p:ph idx="1" type="body"/>
          </p:nvPr>
        </p:nvSpPr>
        <p:spPr>
          <a:xfrm>
            <a:off x="457200" y="1488004"/>
            <a:ext cx="8229600" cy="4526100"/>
          </a:xfrm>
          <a:prstGeom prst="rect">
            <a:avLst/>
          </a:prstGeom>
          <a:noFill/>
          <a:ln>
            <a:noFill/>
          </a:ln>
        </p:spPr>
        <p:txBody>
          <a:bodyPr anchorCtr="0" anchor="t" bIns="45700" lIns="91425" spcFirstLastPara="1" rIns="91425" wrap="square" tIns="45700">
            <a:noAutofit/>
          </a:bodyPr>
          <a:lstStyle/>
          <a:p>
            <a:pPr indent="-279400" lvl="0" marL="342900" rtl="0" algn="l">
              <a:spcBef>
                <a:spcPts val="0"/>
              </a:spcBef>
              <a:spcAft>
                <a:spcPts val="0"/>
              </a:spcAft>
              <a:buClr>
                <a:schemeClr val="dk1"/>
              </a:buClr>
              <a:buSzPts val="2200"/>
              <a:buChar char="●"/>
            </a:pPr>
            <a:r>
              <a:rPr lang="en-US" sz="2200">
                <a:solidFill>
                  <a:schemeClr val="dk1"/>
                </a:solidFill>
                <a:latin typeface="Calibri"/>
                <a:ea typeface="Calibri"/>
                <a:cs typeface="Calibri"/>
                <a:sym typeface="Calibri"/>
              </a:rPr>
              <a:t>The Philosophy: Field workers often resist adopting new, clunky proprietary applications. Our innovation is to use the platform they already use daily.</a:t>
            </a:r>
            <a:endParaRPr sz="2200"/>
          </a:p>
          <a:p>
            <a:pPr indent="-279400" lvl="0" marL="342900" rtl="0" algn="l">
              <a:spcBef>
                <a:spcPts val="640"/>
              </a:spcBef>
              <a:spcAft>
                <a:spcPts val="0"/>
              </a:spcAft>
              <a:buClr>
                <a:schemeClr val="dk1"/>
              </a:buClr>
              <a:buSzPts val="2200"/>
              <a:buChar char="●"/>
            </a:pPr>
            <a:r>
              <a:rPr lang="en-US" sz="2200">
                <a:solidFill>
                  <a:schemeClr val="dk1"/>
                </a:solidFill>
                <a:latin typeface="Calibri"/>
                <a:ea typeface="Calibri"/>
                <a:cs typeface="Calibri"/>
                <a:sym typeface="Calibri"/>
              </a:rPr>
              <a:t>WhatsApp API Integration: We route automated work orders directly to crews' devices.</a:t>
            </a:r>
            <a:endParaRPr sz="2200"/>
          </a:p>
          <a:p>
            <a:pPr indent="-279400" lvl="0" marL="342900" rtl="0" algn="l">
              <a:spcBef>
                <a:spcPts val="640"/>
              </a:spcBef>
              <a:spcAft>
                <a:spcPts val="0"/>
              </a:spcAft>
              <a:buClr>
                <a:schemeClr val="dk1"/>
              </a:buClr>
              <a:buSzPts val="2200"/>
              <a:buChar char="●"/>
            </a:pPr>
            <a:r>
              <a:rPr lang="en-US" sz="2200">
                <a:solidFill>
                  <a:schemeClr val="dk1"/>
                </a:solidFill>
                <a:latin typeface="Calibri"/>
                <a:ea typeface="Calibri"/>
                <a:cs typeface="Calibri"/>
                <a:sym typeface="Calibri"/>
              </a:rPr>
              <a:t>Automated Work Orders: The dispatched message contains:</a:t>
            </a:r>
            <a:endParaRPr sz="2200"/>
          </a:p>
          <a:p>
            <a:pPr indent="-279400" lvl="0" marL="342900" rtl="0" algn="l">
              <a:spcBef>
                <a:spcPts val="640"/>
              </a:spcBef>
              <a:spcAft>
                <a:spcPts val="0"/>
              </a:spcAft>
              <a:buClr>
                <a:schemeClr val="dk1"/>
              </a:buClr>
              <a:buSzPts val="2200"/>
              <a:buChar char="●"/>
            </a:pPr>
            <a:r>
              <a:rPr lang="en-US" sz="2200">
                <a:solidFill>
                  <a:schemeClr val="dk1"/>
                </a:solidFill>
                <a:latin typeface="Calibri"/>
                <a:ea typeface="Calibri"/>
                <a:cs typeface="Calibri"/>
                <a:sym typeface="Calibri"/>
              </a:rPr>
              <a:t>Google Maps Location Pin (50m precision)</a:t>
            </a:r>
            <a:endParaRPr sz="2200"/>
          </a:p>
          <a:p>
            <a:pPr indent="-279400" lvl="0" marL="342900" rtl="0" algn="l">
              <a:spcBef>
                <a:spcPts val="640"/>
              </a:spcBef>
              <a:spcAft>
                <a:spcPts val="0"/>
              </a:spcAft>
              <a:buClr>
                <a:schemeClr val="dk1"/>
              </a:buClr>
              <a:buSzPts val="2200"/>
              <a:buChar char="●"/>
            </a:pPr>
            <a:r>
              <a:rPr lang="en-US" sz="2200">
                <a:solidFill>
                  <a:schemeClr val="dk1"/>
                </a:solidFill>
                <a:latin typeface="Calibri"/>
                <a:ea typeface="Calibri"/>
                <a:cs typeface="Calibri"/>
                <a:sym typeface="Calibri"/>
              </a:rPr>
              <a:t>Anomaly Type (e.g., "URGENT: Pipe Burst")</a:t>
            </a:r>
            <a:endParaRPr sz="2200"/>
          </a:p>
          <a:p>
            <a:pPr indent="-279400" lvl="0" marL="342900" rtl="0" algn="l">
              <a:spcBef>
                <a:spcPts val="640"/>
              </a:spcBef>
              <a:spcAft>
                <a:spcPts val="0"/>
              </a:spcAft>
              <a:buClr>
                <a:schemeClr val="dk1"/>
              </a:buClr>
              <a:buSzPts val="2200"/>
              <a:buChar char="●"/>
            </a:pPr>
            <a:r>
              <a:rPr lang="en-US" sz="2200">
                <a:solidFill>
                  <a:schemeClr val="dk1"/>
                </a:solidFill>
                <a:latin typeface="Calibri"/>
                <a:ea typeface="Calibri"/>
                <a:cs typeface="Calibri"/>
                <a:sym typeface="Calibri"/>
              </a:rPr>
              <a:t>Urgency Level</a:t>
            </a:r>
            <a:endParaRPr sz="2200"/>
          </a:p>
          <a:p>
            <a:pPr indent="-279400" lvl="0" marL="342900" rtl="0" algn="l">
              <a:spcBef>
                <a:spcPts val="640"/>
              </a:spcBef>
              <a:spcAft>
                <a:spcPts val="1200"/>
              </a:spcAft>
              <a:buClr>
                <a:schemeClr val="dk1"/>
              </a:buClr>
              <a:buSzPts val="2200"/>
              <a:buChar char="●"/>
            </a:pPr>
            <a:r>
              <a:rPr lang="en-US" sz="2200">
                <a:solidFill>
                  <a:schemeClr val="dk1"/>
                </a:solidFill>
                <a:latin typeface="Calibri"/>
                <a:ea typeface="Calibri"/>
                <a:cs typeface="Calibri"/>
                <a:sym typeface="Calibri"/>
              </a:rPr>
              <a:t>Two-Way Interaction: The crew simply replies 'DONE' in the chat, via a conversational bot flow, seamlessly updating the Utility Manager’s dashboard instantly.</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2"/>
          <p:cNvSpPr txBox="1"/>
          <p:nvPr>
            <p:ph type="title"/>
          </p:nvPr>
        </p:nvSpPr>
        <p:spPr>
          <a:xfrm>
            <a:off x="457200" y="22196"/>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C3DAF9"/>
                </a:solidFill>
                <a:latin typeface="Calibri"/>
                <a:ea typeface="Calibri"/>
                <a:cs typeface="Calibri"/>
                <a:sym typeface="Calibri"/>
              </a:rPr>
              <a:t>Technology Stack</a:t>
            </a:r>
            <a:endParaRPr>
              <a:solidFill>
                <a:srgbClr val="C3DAF9"/>
              </a:solidFill>
            </a:endParaRPr>
          </a:p>
        </p:txBody>
      </p:sp>
      <p:sp>
        <p:nvSpPr>
          <p:cNvPr id="134" name="Google Shape;134;p12"/>
          <p:cNvSpPr txBox="1"/>
          <p:nvPr>
            <p:ph idx="1" type="body"/>
          </p:nvPr>
        </p:nvSpPr>
        <p:spPr>
          <a:xfrm>
            <a:off x="457200" y="1292325"/>
            <a:ext cx="8229600" cy="4526100"/>
          </a:xfrm>
          <a:prstGeom prst="rect">
            <a:avLst/>
          </a:prstGeom>
          <a:noFill/>
          <a:ln>
            <a:noFill/>
          </a:ln>
        </p:spPr>
        <p:txBody>
          <a:bodyPr anchorCtr="0" anchor="t" bIns="45700" lIns="91425" spcFirstLastPara="1" rIns="91425" wrap="square" tIns="45700">
            <a:noAutofit/>
          </a:bodyPr>
          <a:lstStyle/>
          <a:p>
            <a:pPr indent="-260350" lvl="0" marL="342900" rtl="0" algn="l">
              <a:spcBef>
                <a:spcPts val="0"/>
              </a:spcBef>
              <a:spcAft>
                <a:spcPts val="0"/>
              </a:spcAft>
              <a:buClr>
                <a:schemeClr val="dk1"/>
              </a:buClr>
              <a:buSzPts val="1900"/>
              <a:buChar char="●"/>
            </a:pPr>
            <a:r>
              <a:rPr lang="en-US" sz="1900">
                <a:solidFill>
                  <a:schemeClr val="dk1"/>
                </a:solidFill>
                <a:latin typeface="Calibri"/>
                <a:ea typeface="Calibri"/>
                <a:cs typeface="Calibri"/>
                <a:sym typeface="Calibri"/>
              </a:rPr>
              <a:t>Machine Learning / AI Engine:</a:t>
            </a:r>
            <a:endParaRPr sz="1900"/>
          </a:p>
          <a:p>
            <a:pPr indent="0" lvl="0" marL="342900" rtl="0" algn="l">
              <a:spcBef>
                <a:spcPts val="640"/>
              </a:spcBef>
              <a:spcAft>
                <a:spcPts val="0"/>
              </a:spcAft>
              <a:buNone/>
            </a:pPr>
            <a:r>
              <a:rPr lang="en-US" sz="1900">
                <a:solidFill>
                  <a:schemeClr val="dk1"/>
                </a:solidFill>
                <a:latin typeface="Calibri"/>
                <a:ea typeface="Calibri"/>
                <a:cs typeface="Calibri"/>
                <a:sym typeface="Calibri"/>
              </a:rPr>
              <a:t>Python / Pandas for data processing</a:t>
            </a:r>
            <a:endParaRPr sz="1900"/>
          </a:p>
          <a:p>
            <a:pPr indent="0" lvl="0" marL="342900" rtl="0" algn="l">
              <a:spcBef>
                <a:spcPts val="640"/>
              </a:spcBef>
              <a:spcAft>
                <a:spcPts val="0"/>
              </a:spcAft>
              <a:buNone/>
            </a:pPr>
            <a:r>
              <a:rPr lang="en-US" sz="1900">
                <a:solidFill>
                  <a:schemeClr val="dk1"/>
                </a:solidFill>
                <a:latin typeface="Calibri"/>
                <a:ea typeface="Calibri"/>
                <a:cs typeface="Calibri"/>
                <a:sym typeface="Calibri"/>
              </a:rPr>
              <a:t>Anomaly Detection (Random Forests / XGBoost) for classifying signature drops.</a:t>
            </a:r>
            <a:endParaRPr sz="1900"/>
          </a:p>
          <a:p>
            <a:pPr indent="-260350" lvl="0" marL="342900" rtl="0" algn="l">
              <a:spcBef>
                <a:spcPts val="640"/>
              </a:spcBef>
              <a:spcAft>
                <a:spcPts val="0"/>
              </a:spcAft>
              <a:buClr>
                <a:schemeClr val="dk1"/>
              </a:buClr>
              <a:buSzPts val="1900"/>
              <a:buChar char="●"/>
            </a:pPr>
            <a:r>
              <a:rPr lang="en-US" sz="1900">
                <a:solidFill>
                  <a:schemeClr val="dk1"/>
                </a:solidFill>
                <a:latin typeface="Calibri"/>
                <a:ea typeface="Calibri"/>
                <a:cs typeface="Calibri"/>
                <a:sym typeface="Calibri"/>
              </a:rPr>
              <a:t>Backend &amp; Interoperability:</a:t>
            </a:r>
            <a:br>
              <a:rPr lang="en-US" sz="1900"/>
            </a:br>
            <a:r>
              <a:rPr lang="en-US" sz="1900">
                <a:solidFill>
                  <a:schemeClr val="dk1"/>
                </a:solidFill>
                <a:latin typeface="Calibri"/>
                <a:ea typeface="Calibri"/>
                <a:cs typeface="Calibri"/>
                <a:sym typeface="Calibri"/>
              </a:rPr>
              <a:t>FastAPI (Python) or Node.js to handle API requests and trigger dispatches.</a:t>
            </a:r>
            <a:br>
              <a:rPr lang="en-US" sz="1900"/>
            </a:br>
            <a:r>
              <a:rPr lang="en-US" sz="1900">
                <a:solidFill>
                  <a:schemeClr val="dk1"/>
                </a:solidFill>
                <a:latin typeface="Calibri"/>
                <a:ea typeface="Calibri"/>
                <a:cs typeface="Calibri"/>
                <a:sym typeface="Calibri"/>
              </a:rPr>
              <a:t>Twilio API / Meta WhatsApp Business API for bidirectional messaging.</a:t>
            </a:r>
            <a:endParaRPr sz="1900"/>
          </a:p>
          <a:p>
            <a:pPr indent="-260350" lvl="0" marL="342900" rtl="0" algn="l">
              <a:spcBef>
                <a:spcPts val="640"/>
              </a:spcBef>
              <a:spcAft>
                <a:spcPts val="0"/>
              </a:spcAft>
              <a:buClr>
                <a:schemeClr val="dk1"/>
              </a:buClr>
              <a:buSzPts val="1900"/>
              <a:buChar char="●"/>
            </a:pPr>
            <a:r>
              <a:rPr lang="en-US" sz="1900">
                <a:solidFill>
                  <a:schemeClr val="dk1"/>
                </a:solidFill>
                <a:latin typeface="Calibri"/>
                <a:ea typeface="Calibri"/>
                <a:cs typeface="Calibri"/>
                <a:sym typeface="Calibri"/>
              </a:rPr>
              <a:t>Database &amp; GIS:</a:t>
            </a:r>
            <a:r>
              <a:rPr lang="en-US" sz="1900"/>
              <a:t> </a:t>
            </a:r>
            <a:br>
              <a:rPr lang="en-US" sz="1900"/>
            </a:br>
            <a:r>
              <a:rPr lang="en-US" sz="1900">
                <a:solidFill>
                  <a:schemeClr val="dk1"/>
                </a:solidFill>
                <a:latin typeface="Calibri"/>
                <a:ea typeface="Calibri"/>
                <a:cs typeface="Calibri"/>
                <a:sym typeface="Calibri"/>
              </a:rPr>
              <a:t>PostgreSQL with PostGIS for querying fast geographical coordinates based on AMC ward boundaries.</a:t>
            </a:r>
            <a:endParaRPr sz="1900"/>
          </a:p>
          <a:p>
            <a:pPr indent="-260350" lvl="0" marL="342900" rtl="0" algn="l">
              <a:spcBef>
                <a:spcPts val="640"/>
              </a:spcBef>
              <a:spcAft>
                <a:spcPts val="0"/>
              </a:spcAft>
              <a:buClr>
                <a:schemeClr val="dk1"/>
              </a:buClr>
              <a:buSzPts val="1900"/>
              <a:buChar char="●"/>
            </a:pPr>
            <a:r>
              <a:rPr lang="en-US" sz="1900">
                <a:solidFill>
                  <a:schemeClr val="dk1"/>
                </a:solidFill>
                <a:latin typeface="Calibri"/>
                <a:ea typeface="Calibri"/>
                <a:cs typeface="Calibri"/>
                <a:sym typeface="Calibri"/>
              </a:rPr>
              <a:t>Frontend Dashboard:</a:t>
            </a:r>
            <a:r>
              <a:rPr lang="en-US" sz="1900"/>
              <a:t> </a:t>
            </a:r>
            <a:br>
              <a:rPr lang="en-US" sz="1900"/>
            </a:br>
            <a:r>
              <a:rPr lang="en-US" sz="1900">
                <a:solidFill>
                  <a:schemeClr val="dk1"/>
                </a:solidFill>
                <a:latin typeface="Calibri"/>
                <a:ea typeface="Calibri"/>
                <a:cs typeface="Calibri"/>
                <a:sym typeface="Calibri"/>
              </a:rPr>
              <a:t>React.js / Next.js with </a:t>
            </a:r>
            <a:r>
              <a:rPr lang="en-US" sz="1900">
                <a:solidFill>
                  <a:schemeClr val="dk1"/>
                </a:solidFill>
                <a:latin typeface="Calibri"/>
                <a:ea typeface="Calibri"/>
                <a:cs typeface="Calibri"/>
                <a:sym typeface="Calibri"/>
              </a:rPr>
              <a:t>Tailwind CSS</a:t>
            </a:r>
            <a:r>
              <a:rPr lang="en-US" sz="1900">
                <a:solidFill>
                  <a:schemeClr val="dk1"/>
                </a:solidFill>
                <a:latin typeface="Calibri"/>
                <a:ea typeface="Calibri"/>
                <a:cs typeface="Calibri"/>
                <a:sym typeface="Calibri"/>
              </a:rPr>
              <a:t> delivering a dynamic UI for the Utility Manager's dashboard. Mapbox or Leaflet.js for interactive rendering.</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3"/>
          <p:cNvSpPr txBox="1"/>
          <p:nvPr>
            <p:ph type="title"/>
          </p:nvPr>
        </p:nvSpPr>
        <p:spPr>
          <a:xfrm>
            <a:off x="457200" y="22196"/>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rgbClr val="C3DAF9"/>
                </a:solidFill>
                <a:latin typeface="Calibri"/>
                <a:ea typeface="Calibri"/>
                <a:cs typeface="Calibri"/>
                <a:sym typeface="Calibri"/>
              </a:rPr>
              <a:t>Why This Approach Wins</a:t>
            </a:r>
            <a:endParaRPr>
              <a:solidFill>
                <a:srgbClr val="C3DAF9"/>
              </a:solidFill>
            </a:endParaRPr>
          </a:p>
        </p:txBody>
      </p:sp>
      <p:sp>
        <p:nvSpPr>
          <p:cNvPr id="140" name="Google Shape;140;p13"/>
          <p:cNvSpPr txBox="1"/>
          <p:nvPr>
            <p:ph idx="1" type="body"/>
          </p:nvPr>
        </p:nvSpPr>
        <p:spPr>
          <a:xfrm>
            <a:off x="457200" y="1459955"/>
            <a:ext cx="8229600" cy="4526100"/>
          </a:xfrm>
          <a:prstGeom prst="rect">
            <a:avLst/>
          </a:prstGeom>
          <a:noFill/>
          <a:ln>
            <a:noFill/>
          </a:ln>
        </p:spPr>
        <p:txBody>
          <a:bodyPr anchorCtr="0" anchor="t" bIns="45700" lIns="91425" spcFirstLastPara="1" rIns="91425" wrap="square" tIns="45700">
            <a:noAutofit/>
          </a:bodyPr>
          <a:lstStyle/>
          <a:p>
            <a:pPr indent="-292100" lvl="0" marL="342900" rtl="0" algn="l">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Granular Actionability: We don't just say "there's a problem in Zone 2". We specify the pipe segment and what broke.</a:t>
            </a:r>
            <a:endParaRPr sz="2400"/>
          </a:p>
          <a:p>
            <a:pPr indent="-292100" lvl="0" marL="342900" rtl="0" algn="l">
              <a:spcBef>
                <a:spcPts val="640"/>
              </a:spcBef>
              <a:spcAft>
                <a:spcPts val="0"/>
              </a:spcAft>
              <a:buClr>
                <a:schemeClr val="dk1"/>
              </a:buClr>
              <a:buSzPts val="2400"/>
              <a:buChar char="●"/>
            </a:pPr>
            <a:r>
              <a:rPr lang="en-US" sz="2400">
                <a:solidFill>
                  <a:schemeClr val="dk1"/>
                </a:solidFill>
                <a:latin typeface="Calibri"/>
                <a:ea typeface="Calibri"/>
                <a:cs typeface="Calibri"/>
                <a:sym typeface="Calibri"/>
              </a:rPr>
              <a:t>High Adoption Rate: No new training or apps for on-ground staff; a 100% familiar interface (WhatsApp).</a:t>
            </a:r>
            <a:endParaRPr sz="2400"/>
          </a:p>
          <a:p>
            <a:pPr indent="-292100" lvl="0" marL="342900" rtl="0" algn="l">
              <a:spcBef>
                <a:spcPts val="640"/>
              </a:spcBef>
              <a:spcAft>
                <a:spcPts val="0"/>
              </a:spcAft>
              <a:buClr>
                <a:schemeClr val="dk1"/>
              </a:buClr>
              <a:buSzPts val="2400"/>
              <a:buChar char="●"/>
            </a:pPr>
            <a:r>
              <a:rPr lang="en-US" sz="2400">
                <a:solidFill>
                  <a:schemeClr val="dk1"/>
                </a:solidFill>
                <a:latin typeface="Calibri"/>
                <a:ea typeface="Calibri"/>
                <a:cs typeface="Calibri"/>
                <a:sym typeface="Calibri"/>
              </a:rPr>
              <a:t>Prioritized Maintenance: Resource allocation is optimized by dispatching crews to the leaks losing the most estimated daily volume first.</a:t>
            </a:r>
            <a:endParaRPr sz="2400"/>
          </a:p>
          <a:p>
            <a:pPr indent="-292100" lvl="0" marL="342900" rtl="0" algn="l">
              <a:spcBef>
                <a:spcPts val="640"/>
              </a:spcBef>
              <a:spcAft>
                <a:spcPts val="1200"/>
              </a:spcAft>
              <a:buClr>
                <a:schemeClr val="dk1"/>
              </a:buClr>
              <a:buSzPts val="2400"/>
              <a:buChar char="●"/>
            </a:pPr>
            <a:r>
              <a:rPr lang="en-US" sz="2400">
                <a:solidFill>
                  <a:schemeClr val="dk1"/>
                </a:solidFill>
                <a:latin typeface="Calibri"/>
                <a:ea typeface="Calibri"/>
                <a:cs typeface="Calibri"/>
                <a:sym typeface="Calibri"/>
              </a:rPr>
              <a:t>Sustainable Tech: Direct contribution to municipal sustainability, saving vast amounts of treated revenue-generating water while modernizing legacy systems.</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dffbd83117_0_659"/>
          <p:cNvSpPr txBox="1"/>
          <p:nvPr/>
        </p:nvSpPr>
        <p:spPr>
          <a:xfrm>
            <a:off x="0" y="1317750"/>
            <a:ext cx="9144000" cy="145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7000">
                <a:solidFill>
                  <a:srgbClr val="4A86E8"/>
                </a:solidFill>
                <a:latin typeface="Impact"/>
                <a:ea typeface="Impact"/>
                <a:cs typeface="Impact"/>
                <a:sym typeface="Impact"/>
              </a:rPr>
              <a:t>Every Drop Counts</a:t>
            </a:r>
            <a:endParaRPr sz="7000">
              <a:solidFill>
                <a:srgbClr val="4A86E8"/>
              </a:solidFill>
              <a:latin typeface="Impact"/>
              <a:ea typeface="Impact"/>
              <a:cs typeface="Impact"/>
              <a:sym typeface="Impact"/>
            </a:endParaRPr>
          </a:p>
        </p:txBody>
      </p:sp>
      <p:sp>
        <p:nvSpPr>
          <p:cNvPr id="146" name="Google Shape;146;g3dffbd83117_0_659"/>
          <p:cNvSpPr txBox="1"/>
          <p:nvPr/>
        </p:nvSpPr>
        <p:spPr>
          <a:xfrm>
            <a:off x="2123850" y="3429000"/>
            <a:ext cx="4896300" cy="145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5000">
                <a:solidFill>
                  <a:schemeClr val="dk1"/>
                </a:solidFill>
                <a:latin typeface="Impact"/>
                <a:ea typeface="Impact"/>
                <a:cs typeface="Impact"/>
                <a:sym typeface="Impact"/>
              </a:rPr>
              <a:t>Thank You</a:t>
            </a:r>
            <a:endParaRPr sz="5000">
              <a:solidFill>
                <a:schemeClr val="dk1"/>
              </a:solidFill>
              <a:latin typeface="Impact"/>
              <a:ea typeface="Impact"/>
              <a:cs typeface="Impact"/>
              <a:sym typeface="Impact"/>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